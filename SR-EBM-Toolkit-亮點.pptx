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導入 SR / EBM 搜尋工具包後，檢索流程由人工逐庫改寫轉為一鍵標準化產出；館員角色由代勞轉為教學與品質把關。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三合一工具涵蓋策略發展、語法轉換與鄰近字整理；效益聚焦檢索品質、讀者自助、素養教育與資料安全，並具開源與可引用性，適合作為全國推廣的圖書館加值服務。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導入「SR / EBM 搜尋工具包」前後對比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系統性文獻回顧（SR）／實證醫學（EBM）檢索流程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074920" cy="4956048"/>
          </a:xfrm>
          <a:prstGeom prst="roundRect">
            <a:avLst>
              <a:gd name="adj" fmla="val 18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81328"/>
            <a:ext cx="5074920" cy="676656"/>
          </a:xfrm>
          <a:prstGeom prst="roundRect">
            <a:avLst>
              <a:gd name="adj" fmla="val 13514"/>
            </a:avLst>
          </a:prstGeom>
          <a:solidFill>
            <a:srgbClr val="64748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481328"/>
            <a:ext cx="5074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  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使用前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565392" y="1481328"/>
            <a:ext cx="5074920" cy="4956048"/>
          </a:xfrm>
          <a:prstGeom prst="roundRect">
            <a:avLst>
              <a:gd name="adj" fmla="val 1845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65392" y="1481328"/>
            <a:ext cx="5074920" cy="676656"/>
          </a:xfrm>
          <a:prstGeom prst="roundRect">
            <a:avLst>
              <a:gd name="adj" fmla="val 13514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65392" y="1481328"/>
            <a:ext cx="5074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</a:t>
            </a:r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使用後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04672" y="2574036"/>
            <a:ext cx="329184" cy="329184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" y="25740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35000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逐一資料庫手動改寫語法、重複耗時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821424" y="2574036"/>
            <a:ext cx="329184" cy="32918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21424" y="25740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296912" y="235000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5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一鍵生成多資料庫策略、語法互轉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04672" y="3351276"/>
            <a:ext cx="329184" cy="329184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4672" y="33512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12724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各庫語法規則不同、容易出錯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821424" y="3351276"/>
            <a:ext cx="329184" cy="32918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21424" y="33512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296912" y="312724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5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標準化、可核對，明顯減少錯誤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04672" y="4128516"/>
            <a:ext cx="329184" cy="329184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04672" y="41285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390448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概念轉檢索式門檻高、仰賴經驗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821424" y="4128516"/>
            <a:ext cx="329184" cy="32918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21424" y="41285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296912" y="390448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5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概念表引導、降低門檻可自助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804672" y="4905756"/>
            <a:ext cx="329184" cy="329184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04672" y="49057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280160" y="468172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檢索紀錄表需手動謄寫、易遺漏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6821424" y="4905756"/>
            <a:ext cx="329184" cy="32918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821424" y="49057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296912" y="468172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5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自動回填檢索紀錄表、留存可追溯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804672" y="5682996"/>
            <a:ext cx="329184" cy="329184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04672" y="56829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280160" y="545896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讀者高度依賴館員逐案代勞</a:t>
            </a:r>
            <a:endParaRPr lang="en-US" sz="1450" dirty="0"/>
          </a:p>
        </p:txBody>
      </p:sp>
      <p:sp>
        <p:nvSpPr>
          <p:cNvPr id="37" name="Shape 35"/>
          <p:cNvSpPr/>
          <p:nvPr/>
        </p:nvSpPr>
        <p:spPr>
          <a:xfrm>
            <a:off x="6821424" y="5682996"/>
            <a:ext cx="329184" cy="32918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821424" y="56829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296912" y="545896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5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館員從「代勞」轉為教學與把關</a:t>
            </a:r>
            <a:endParaRPr lang="en-US" sz="1450" dirty="0"/>
          </a:p>
        </p:txBody>
      </p:sp>
      <p:sp>
        <p:nvSpPr>
          <p:cNvPr id="40" name="Shape 38"/>
          <p:cNvSpPr/>
          <p:nvPr/>
        </p:nvSpPr>
        <p:spPr>
          <a:xfrm>
            <a:off x="5719572" y="3584448"/>
            <a:ext cx="749808" cy="749808"/>
          </a:xfrm>
          <a:prstGeom prst="ellipse">
            <a:avLst/>
          </a:prstGeom>
          <a:solidFill>
            <a:srgbClr val="0F766E"/>
          </a:solidFill>
          <a:ln w="317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F766E">
                <a:alpha val="40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5719572" y="356616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圖書館服務亮點與效益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SR / EBM 搜尋工具包｜三合一檢索工具，免安裝・純網頁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3514344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664208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645920"/>
            <a:ext cx="2462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PICO 檢索策略產生器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04288"/>
            <a:ext cx="2965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依概念表一鍵生成各資料庫檢索式，並可回填檢索紀錄表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37304" y="1389888"/>
            <a:ext cx="3514344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29912" y="1664208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29912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205984" y="1645920"/>
            <a:ext cx="2462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資料庫檢索語法轉換器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11624" y="2304288"/>
            <a:ext cx="2965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PubMed／Ovid／Embase／Cochrane／CINAHL／WoS／Scopus 語法互轉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25968" y="1389888"/>
            <a:ext cx="3514344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8576" y="1664208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8576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994648" y="1645920"/>
            <a:ext cx="2462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鄰近字組合器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00288" y="2304288"/>
            <a:ext cx="2965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快速整理同義詞、產生鄰近字（ADJ／NEAR／N）運算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7673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5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導入效益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2567178" cy="137160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4407408"/>
            <a:ext cx="310896" cy="31089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9808" y="4407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4773168"/>
            <a:ext cx="21648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5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檢索品質與一致性提升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49808" y="5120640"/>
            <a:ext cx="21648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標準化語法、減少人為錯誤與遺漏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90138" y="4206240"/>
            <a:ext cx="2567178" cy="137160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591306" y="4407408"/>
            <a:ext cx="310896" cy="31089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591306" y="4407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591306" y="4773168"/>
            <a:ext cx="21648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5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讀者自助・館員加值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3591306" y="5120640"/>
            <a:ext cx="21648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由逐案代勞轉為教學與品質把關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31636" y="4206240"/>
            <a:ext cx="2567178" cy="137160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32804" y="4407408"/>
            <a:ext cx="310896" cy="31089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32804" y="4407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432804" y="4773168"/>
            <a:ext cx="21648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5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深化資訊素養教育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6432804" y="5120640"/>
            <a:ext cx="21648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可融入課程與工作坊，實作演練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073134" y="4206240"/>
            <a:ext cx="2567178" cy="137160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101600" dist="38100" dir="5400000">
              <a:srgbClr val="94A3B8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274302" y="4407408"/>
            <a:ext cx="310896" cy="31089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274302" y="4407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9274302" y="4773168"/>
            <a:ext cx="21648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5E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安全・開放・可引用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9274302" y="5120640"/>
            <a:ext cx="21648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本機執行不外傳、開源、Zenodo DOI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5870448"/>
            <a:ext cx="1001268" cy="457200"/>
          </a:xfrm>
          <a:prstGeom prst="roundRect">
            <a:avLst>
              <a:gd name="adj" fmla="val 48000"/>
            </a:avLst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48640" y="5870448"/>
            <a:ext cx="10012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免安裝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714500" y="5870448"/>
            <a:ext cx="1677924" cy="457200"/>
          </a:xfrm>
          <a:prstGeom prst="roundRect">
            <a:avLst>
              <a:gd name="adj" fmla="val 48000"/>
            </a:avLst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714500" y="5870448"/>
            <a:ext cx="16779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純網頁・可離線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557016" y="5870448"/>
            <a:ext cx="1508760" cy="457200"/>
          </a:xfrm>
          <a:prstGeom prst="roundRect">
            <a:avLst>
              <a:gd name="adj" fmla="val 48000"/>
            </a:avLst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557016" y="587044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不使用 AI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230368" y="5870448"/>
            <a:ext cx="1847088" cy="457200"/>
          </a:xfrm>
          <a:prstGeom prst="roundRect">
            <a:avLst>
              <a:gd name="adj" fmla="val 48000"/>
            </a:avLst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230368" y="5870448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本機執行・不外傳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242048" y="5870448"/>
            <a:ext cx="3538728" cy="457200"/>
          </a:xfrm>
          <a:prstGeom prst="roundRect">
            <a:avLst>
              <a:gd name="adj" fmla="val 48000"/>
            </a:avLst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242048" y="5870448"/>
            <a:ext cx="3538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開源・可引用（Zenodo DOI）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0945368" y="5870448"/>
            <a:ext cx="1170432" cy="457200"/>
          </a:xfrm>
          <a:prstGeom prst="roundRect">
            <a:avLst>
              <a:gd name="adj" fmla="val 48000"/>
            </a:avLst>
          </a:prstGeom>
          <a:solidFill>
            <a:srgbClr val="F0FDF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945368" y="5870448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中英雙語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2026-09-18T03:42:30Z</dcterms:created>
  <dcterms:modified xsi:type="dcterms:W3CDTF">2026-09-18T03:42:30Z</dcterms:modified>
</cp:coreProperties>
</file>